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 qué importa y qué preguntamos" id="{b0637f28-531d-0656-6058-80e450327bfa}">
          <p14:sldIdLst>
            <p14:sldId id="256"/>
            <p14:sldId id="257"/>
            <p14:sldId id="258"/>
          </p14:sldIdLst>
        </p14:section>
        <p14:section name="Qué dicen los datos" id="{c9e8ebf5-20bd-c5e5-242c-0634c3531976}">
          <p14:sldIdLst>
            <p14:sldId id="259"/>
            <p14:sldId id="260"/>
            <p14:sldId id="261"/>
            <p14:sldId id="262"/>
          </p14:sldIdLst>
        </p14:section>
        <p14:section name="Qué hacer" id="{4484dce0-c52f-8833-3771-2b13ff9a7670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Tasa de abandono por nivel cursado en 2020-21 y nivel socioeconómico del hogar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NSE bajo (0-2 bienes)</c:v>
                </c:pt>
              </c:strCache>
            </c:strRef>
          </c:tx>
          <c:spPr>
            <a:solidFill>
              <a:srgbClr val="86B6E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Primaria</c:v>
                  </c:pt>
                  <c:pt idx="1">
                    <c:v>Secundaria</c:v>
                  </c:pt>
                  <c:pt idx="2">
                    <c:v>Media superior</c:v>
                  </c:pt>
                  <c:pt idx="3">
                    <c:v>Superior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3.8</c:v>
                </c:pt>
                <c:pt idx="1">
                  <c:v>15.4</c:v>
                </c:pt>
                <c:pt idx="2">
                  <c:v>33.8</c:v>
                </c:pt>
                <c:pt idx="3">
                  <c:v>16.1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NSE medio (3-4)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Primaria</c:v>
                  </c:pt>
                  <c:pt idx="1">
                    <c:v>Secundaria</c:v>
                  </c:pt>
                  <c:pt idx="2">
                    <c:v>Media superior</c:v>
                  </c:pt>
                  <c:pt idx="3">
                    <c:v>Superior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1.4</c:v>
                </c:pt>
                <c:pt idx="1">
                  <c:v>6.7</c:v>
                </c:pt>
                <c:pt idx="2">
                  <c:v>16.7</c:v>
                </c:pt>
                <c:pt idx="3">
                  <c:v>10.5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NSE alto (5-6)</c:v>
                </c:pt>
              </c:strCache>
            </c:strRef>
          </c:tx>
          <c:spPr>
            <a:solidFill>
              <a:srgbClr val="10428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Primaria</c:v>
                  </c:pt>
                  <c:pt idx="1">
                    <c:v>Secundaria</c:v>
                  </c:pt>
                  <c:pt idx="2">
                    <c:v>Media superior</c:v>
                  </c:pt>
                  <c:pt idx="3">
                    <c:v>Superior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0.1</c:v>
                </c:pt>
                <c:pt idx="1">
                  <c:v>1.6</c:v>
                </c:pt>
                <c:pt idx="2">
                  <c:v>12</c:v>
                </c:pt>
                <c:pt idx="3">
                  <c:v>4.9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4A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A5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F4A5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Razón principal por la que dejaron la escuela sin terminar (% de cada sexo)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Hombres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Falta de dinero o recursos</c:v>
                  </c:pt>
                  <c:pt idx="1">
                    <c:v>Falta de interés o aptitud</c:v>
                  </c:pt>
                  <c:pt idx="2">
                    <c:v>Tenía que trabajar</c:v>
                  </c:pt>
                  <c:pt idx="3">
                    <c:v>Se unió, casó o embarazo</c:v>
                  </c:pt>
                  <c:pt idx="4">
                    <c:v>Quehaceres del hogar o cuidados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29.9</c:v>
                </c:pt>
                <c:pt idx="2">
                  <c:v>29.2</c:v>
                </c:pt>
                <c:pt idx="3">
                  <c:v>6.1</c:v>
                </c:pt>
                <c:pt idx="4">
                  <c:v>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Mujeres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Falta de dinero o recursos</c:v>
                  </c:pt>
                  <c:pt idx="1">
                    <c:v>Falta de interés o aptitud</c:v>
                  </c:pt>
                  <c:pt idx="2">
                    <c:v>Tenía que trabajar</c:v>
                  </c:pt>
                  <c:pt idx="3">
                    <c:v>Se unió, casó o embarazo</c:v>
                  </c:pt>
                  <c:pt idx="4">
                    <c:v>Quehaceres del hogar o cuidados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28.9</c:v>
                </c:pt>
                <c:pt idx="1">
                  <c:v>19.7</c:v>
                </c:pt>
                <c:pt idx="2">
                  <c:v>15.5</c:v>
                </c:pt>
                <c:pt idx="3">
                  <c:v>21.6</c:v>
                </c:pt>
                <c:pt idx="4">
                  <c:v>3.5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4A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b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A5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F4A5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% que trabaja, jóvenes de 15-29 años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Continuó estudiando</c:v>
                </c:pt>
              </c:strCache>
            </c:strRef>
          </c:tx>
          <c:spPr>
            <a:solidFill>
              <a:srgbClr val="86B6E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Hombres</c:v>
                  </c:pt>
                  <c:pt idx="1">
                    <c:v>Mujeres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29.7</c:v>
                </c:pt>
                <c:pt idx="1">
                  <c:v>21.5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Abandonó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Hombres</c:v>
                  </c:pt>
                  <c:pt idx="1">
                    <c:v>Mujeres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67.8</c:v>
                </c:pt>
                <c:pt idx="1">
                  <c:v>45.2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F4A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9525" cap="flat">
              <a:solidFill>
                <a:srgbClr val="E4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F4A5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F4A5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 proyecto responde la pregunta 12: qué factores socioeconómicos se asocian con el abandono escolar y cuáles son sus razones por sexo, con los microdatos oficiales de la ENAPE 2021 de INEGI.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ENAPE 2021 compara dos ciclos justo en el regreso a clases. Se limpiaron las dos tablas oficiales, se unieron por folio y se validaron contra cifras de INEGI: 60.0 millones de personas, 50.2 % hombres, 22.3 millones no inscritos.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Egresar no es abandonar, por eso excluyo a quien logró su meta educativa. Los tres factores de la pregunta no existen en la ENAPE, así que uso proxies documentados en el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directa: 7.1 % de quienes estaban inscritos no volvió, 2.1 millones de personas. Por sexo casi no hay diferencia en cuánto se abandona; por nivel socioeconómico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H1 y H2 se confirman. El gradiente es monótono y la brecha se multiplica en las transiciones: en primaria casi nadie abandona; en bachillerato, uno de cada tres jóvenes de hogares de nivel bajo no regresó. NSE = bienes TIC del hogar, proxy del ingreso.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H3 se confirma. El sexo no cambia cuánto se abandona sino por qué. La primera razón para ambos es la falta de dinero; luego los hombres salen hacia el trabajo y las mujeres por unión, embarazo y cuidados.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Momios de un modelo logístico ponderado con errores robustos. Guanajuato y Nuevo León tienen tasas altas pero su intervalo de confianza cruza el promedio, así que no son una conclusión.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factor socioeconómico más fuerte es el ingreso y su efecto se concentra en la transición a media superior. Las recomendaciones salen de los hallazgos. Limitación principal: al ser telefónica, la encuesta deja fuera a los hogares más pobres.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Fuente: elaboración propia con microdatos de INEGI, ENAPE 2021. Cifras ponderadas con el factor de expansión.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A27E"/>
                </a:solidFill>
              </a:rPr>
              <a:t>PROYECTO FINAL · CIENCIA DE DATOS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bg1"/>
                </a:solidFill>
              </a:rPr>
              <a:t>¿Quién deja la escuela en México, y por qué?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1DE"/>
                </a:solidFill>
              </a:rPr>
              <a:t>Factores socioeconómicos y razones del abandono escolar por sexo · ENAPE 2021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486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F1EA"/>
                </a:solidFill>
              </a:rPr>
              <a:t>Manuel Aguirre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3F1EA"/>
                </a:solidFill>
              </a:rPr>
              <a:t>Licenciatura en Finanzas Internacionales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5486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rgbClr val="C9D1DE"/>
                </a:solidFill>
              </a:rPr>
              <a:t>Universidad de Monterrey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C9D1DE"/>
                </a:solidFill>
              </a:rPr>
              <a:t>Noviembre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Cada joven que deja la escuela es capital humano que el país pierde</a:t>
            </a:r>
            <a:endParaRPr lang="en-US" sz="3000" dirty="0"/>
          </a:p>
        </p:txBody>
      </p:sp>
      <p:sp>
        <p:nvSpPr>
          <p:cNvPr id="3" name="ctx_0"/>
          <p:cNvSpPr/>
          <p:nvPr/>
        </p:nvSpPr>
        <p:spPr>
          <a:xfrm>
            <a:off x="548640" y="1600200"/>
            <a:ext cx="576072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647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Economía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Cada año de escolaridad eleva el ingreso laboral futuro; abandonar perpetúa la informalidad y la baja productividad.</a:t>
            </a:r>
            <a:endParaRPr lang="en-US" sz="1400" dirty="0"/>
          </a:p>
        </p:txBody>
      </p:sp>
      <p:sp>
        <p:nvSpPr>
          <p:cNvPr id="6" name="ctx_1"/>
          <p:cNvSpPr/>
          <p:nvPr/>
        </p:nvSpPr>
        <p:spPr>
          <a:xfrm>
            <a:off x="548640" y="3063240"/>
            <a:ext cx="576072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278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Política pública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661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media superior es obligatoria desde 2012; saber dónde se abandona dice a quién deben llegar las becas.</a:t>
            </a:r>
            <a:endParaRPr lang="en-US" sz="1400" dirty="0"/>
          </a:p>
        </p:txBody>
      </p:sp>
      <p:sp>
        <p:nvSpPr>
          <p:cNvPr id="9" name="ctx_2"/>
          <p:cNvSpPr/>
          <p:nvPr/>
        </p:nvSpPr>
        <p:spPr>
          <a:xfrm>
            <a:off x="548640" y="4526280"/>
            <a:ext cx="5760720" cy="1234440"/>
          </a:xfrm>
          <a:prstGeom prst="roundRect">
            <a:avLst>
              <a:gd name="adj" fmla="val 8889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6908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Momento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0292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ENAPE 2021 mide el regreso a clases tras la pandemia: el ciclo 2020-21 frente al 2021-22.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base de datos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103120"/>
          <a:ext cx="48463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INEGI · ENAPE 2021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Microdatos, encuesta telefónica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Levantamiento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nov – 17 dic 2021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Muestra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14,456 hogares · 32,343 personas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 millones de 0 a 29 años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 originales → 41 en la base final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Pregunta de investigación e hipótesis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factores socioeconómicos —ingreso del hogar, escolaridad de los padres y zona— se asocian con el abandono escolar, y cuáles son las razones más frecuentes por sexo?</a:t>
            </a:r>
            <a:endParaRPr lang="en-US" sz="2600" dirty="0"/>
          </a:p>
        </p:txBody>
      </p:sp>
      <p:sp>
        <p:nvSpPr>
          <p:cNvPr id="4" name="hip_0"/>
          <p:cNvSpPr/>
          <p:nvPr/>
        </p:nvSpPr>
        <p:spPr>
          <a:xfrm>
            <a:off x="548640" y="32918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H1 · Ingreso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abandono es mayor en hogares de menor nivel socioeconómico.</a:t>
            </a:r>
            <a:endParaRPr lang="en-US" sz="1500" dirty="0"/>
          </a:p>
        </p:txBody>
      </p:sp>
      <p:sp>
        <p:nvSpPr>
          <p:cNvPr id="7" name="hip_1"/>
          <p:cNvSpPr/>
          <p:nvPr/>
        </p:nvSpPr>
        <p:spPr>
          <a:xfrm>
            <a:off x="4315968" y="32918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0288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H2 · Transición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3931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concentra en el paso a media superior (15-17 años).</a:t>
            </a:r>
            <a:endParaRPr lang="en-US" sz="1500" dirty="0"/>
          </a:p>
        </p:txBody>
      </p:sp>
      <p:sp>
        <p:nvSpPr>
          <p:cNvPr id="10" name="hip_2"/>
          <p:cNvSpPr/>
          <p:nvPr/>
        </p:nvSpPr>
        <p:spPr>
          <a:xfrm>
            <a:off x="8083296" y="32918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7616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H3 · Género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57616" y="3931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Ellos salen por trabajo; ellas por unión, embarazo y cuidados.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Abandono = inscrito en 2020-21 que no se inscribió en 2021-22, sin contar a quien “logró su meta educativa” (6-29 años). La ENAPE no capta ingreso, escolaridad de los padres ni urbano/rural: se usan proxies (bienes TIC del hogar, informante madre/padre, entidad y cobertura de internet).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2.1 millones de jóvenes no volvieron a la escuela en 2021-22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7.1 %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tasa de abandono, 6-29 años (IC 95 %: 6.5–7.7)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10.4 % vs 3.8 %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nivel socioeconómico bajo vs alto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7.2 % vs 6.9 %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hombres vs mujeres: casi igual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Descriptivos ponderados · media (mediana) desv. est.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2011680"/>
          <a:ext cx="6400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Abandonó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 (12) 5.0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 (18) 3.8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Bienes TIC del hogar (0-6)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 (3) 1.4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 (3) 1.4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 en el hogar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 (5) 2.5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 (5) 2.9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Hogar con internet fijo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212080" y="4572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Correlación ponderada con el abandono: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edad +0.21 · bienes TIC −0.10 · internet fijo −0.09 · ser mujer −0.01. Son modestas porque el abandono es poco frecuente; por eso se usa también un modelo multivariado.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212080" y="5623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Población en riesgo: 18,207 casos = 29.9 millones inscritos en 2020-21.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 bachillerato, 1 de cada 3 jóvenes de hogares pobres no regresó</a:t>
            </a:r>
            <a:endParaRPr lang="en-US" sz="3000" dirty="0"/>
          </a:p>
        </p:txBody>
      </p:sp>
      <p:graphicFrame>
        <p:nvGraphicFramePr>
          <p:cNvPr id="3" name="chart_nse_nivel" descr=""/>
          <p:cNvGraphicFramePr/>
          <p:nvPr/>
        </p:nvGraphicFramePr>
        <p:xfrm>
          <a:off x="548640" y="1417320"/>
          <a:ext cx="7406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se_0"/>
          <p:cNvSpPr/>
          <p:nvPr/>
        </p:nvSpPr>
        <p:spPr>
          <a:xfrm>
            <a:off x="8321040" y="155448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4964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33.8 %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26771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abandono en media superior con NSE bajo, vs 12.0 % con NSE alto</a:t>
            </a:r>
            <a:endParaRPr lang="en-US" sz="1200" dirty="0"/>
          </a:p>
        </p:txBody>
      </p:sp>
      <p:sp>
        <p:nvSpPr>
          <p:cNvPr id="7" name="nse_1"/>
          <p:cNvSpPr/>
          <p:nvPr/>
        </p:nvSpPr>
        <p:spPr>
          <a:xfrm>
            <a:off x="8321040" y="31089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49640" y="3246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6.7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382219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momios de abandono NSE bajo vs alto, a igual edad, sexo, región y familia</a:t>
            </a:r>
            <a:endParaRPr lang="en-US" sz="1200" dirty="0"/>
          </a:p>
        </p:txBody>
      </p:sp>
      <p:sp>
        <p:nvSpPr>
          <p:cNvPr id="10" name="nse_2"/>
          <p:cNvSpPr/>
          <p:nvPr/>
        </p:nvSpPr>
        <p:spPr>
          <a:xfrm>
            <a:off x="8321040" y="466344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49640" y="4800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12 % → 3 %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537667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abandono de hogares con 0 bienes TIC vs con los 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dinero expulsa a ambos; después, ellos van a trabajar y ellas a formar familia</a:t>
            </a:r>
            <a:endParaRPr lang="en-US" sz="3000" dirty="0"/>
          </a:p>
        </p:txBody>
      </p:sp>
      <p:graphicFrame>
        <p:nvGraphicFramePr>
          <p:cNvPr id="3" name="chart_razones" descr=""/>
          <p:cNvGraphicFramePr/>
          <p:nvPr/>
        </p:nvGraphicFramePr>
        <p:xfrm>
          <a:off x="548640" y="1417320"/>
          <a:ext cx="7589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z_0"/>
          <p:cNvSpPr/>
          <p:nvPr/>
        </p:nvSpPr>
        <p:spPr>
          <a:xfrm>
            <a:off x="8503920" y="15544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5" name="rz_dot_0"/>
          <p:cNvSpPr/>
          <p:nvPr/>
        </p:nvSpPr>
        <p:spPr>
          <a:xfrm>
            <a:off x="8732520" y="1783080"/>
            <a:ext cx="256032" cy="25603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09828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Hombres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732520" y="21945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Trabajar 29 % · falta de interés 30 %</a:t>
            </a:r>
            <a:endParaRPr lang="en-US" sz="1300" dirty="0"/>
          </a:p>
        </p:txBody>
      </p:sp>
      <p:sp>
        <p:nvSpPr>
          <p:cNvPr id="8" name="rz_1"/>
          <p:cNvSpPr/>
          <p:nvPr/>
        </p:nvSpPr>
        <p:spPr>
          <a:xfrm>
            <a:off x="8503920" y="310896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9" name="rz_dot_1"/>
          <p:cNvSpPr/>
          <p:nvPr/>
        </p:nvSpPr>
        <p:spPr>
          <a:xfrm>
            <a:off x="8732520" y="3337560"/>
            <a:ext cx="256032" cy="256032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9828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Mujeres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732520" y="3749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Unión o embarazo 22 % (vs 6 % ellos) · cuidados 3.5 %</a:t>
            </a:r>
            <a:endParaRPr lang="en-US" sz="1300" dirty="0"/>
          </a:p>
        </p:txBody>
      </p:sp>
      <p:sp>
        <p:nvSpPr>
          <p:cNvPr id="12" name="rz_2"/>
          <p:cNvSpPr/>
          <p:nvPr/>
        </p:nvSpPr>
        <p:spPr>
          <a:xfrm>
            <a:off x="8503920" y="466344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3" name="rz_dot_2"/>
          <p:cNvSpPr/>
          <p:nvPr/>
        </p:nvSpPr>
        <p:spPr>
          <a:xfrm>
            <a:off x="8732520" y="4892040"/>
            <a:ext cx="256032" cy="256032"/>
          </a:xfrm>
          <a:prstGeom prst="ellipse">
            <a:avLst/>
          </a:prstGeom>
          <a:solidFill>
            <a:srgbClr val="6A7280"/>
          </a:solidFill>
          <a:ln w="12700">
            <a:solidFill>
              <a:srgbClr val="6A728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098280" y="4846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Ciclo 2021-22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732520" y="53035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Dinero 29 % en ambos sexos · pandemia 14-15 %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Patrones adicionales: el trabajo compite con la escuela y la familia protege</a:t>
            </a:r>
            <a:endParaRPr lang="en-US" sz="3000" dirty="0"/>
          </a:p>
        </p:txBody>
      </p:sp>
      <p:graphicFrame>
        <p:nvGraphicFramePr>
          <p:cNvPr id="3" name="chart_trabajo" descr=""/>
          <p:cNvGraphicFramePr/>
          <p:nvPr/>
        </p:nvGraphicFramePr>
        <p:xfrm>
          <a:off x="548640" y="141732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68 % de los hombres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que abandonaron ya trabaja: el costo de oportunidad de estudiar es la palanca. En hogares de NSE bajo, 45 % abandona por dinero o trabajo (16 % en NSE alto).</a:t>
            </a:r>
            <a:endParaRPr lang="en-US" sz="1300" dirty="0"/>
          </a:p>
        </p:txBody>
      </p:sp>
      <p:sp>
        <p:nvSpPr>
          <p:cNvPr id="5" name="pat_0"/>
          <p:cNvSpPr/>
          <p:nvPr/>
        </p:nvSpPr>
        <p:spPr>
          <a:xfrm>
            <a:off x="7040880" y="1508760"/>
            <a:ext cx="4572000" cy="1325880"/>
          </a:xfrm>
          <a:prstGeom prst="roundRect">
            <a:avLst>
              <a:gd name="adj" fmla="val 827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0" y="1673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Familia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2011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no responde la madre o el padre, momios +38 %; hogar de 6 o más personas, +65 %.</a:t>
            </a:r>
            <a:endParaRPr lang="en-US" sz="1400" dirty="0"/>
          </a:p>
        </p:txBody>
      </p:sp>
      <p:sp>
        <p:nvSpPr>
          <p:cNvPr id="8" name="pat_1"/>
          <p:cNvSpPr/>
          <p:nvPr/>
        </p:nvSpPr>
        <p:spPr>
          <a:xfrm>
            <a:off x="7040880" y="3017520"/>
            <a:ext cx="4572000" cy="1325880"/>
          </a:xfrm>
          <a:prstGeom prst="roundRect">
            <a:avLst>
              <a:gd name="adj" fmla="val 827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3182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Zona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5204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Oaxaca (10.4 %) y Puebla (9.9 %) arriba del promedio; CDMX (4.0 %) abajo. La región no es significativa.</a:t>
            </a:r>
            <a:endParaRPr lang="en-US" sz="1400" dirty="0"/>
          </a:p>
        </p:txBody>
      </p:sp>
      <p:sp>
        <p:nvSpPr>
          <p:cNvPr id="11" name="pat_2"/>
          <p:cNvSpPr/>
          <p:nvPr/>
        </p:nvSpPr>
        <p:spPr>
          <a:xfrm>
            <a:off x="7040880" y="4526280"/>
            <a:ext cx="4572000" cy="1325880"/>
          </a:xfrm>
          <a:prstGeom prst="roundRect">
            <a:avLst>
              <a:gd name="adj" fmla="val 8276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0" y="46908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Regreso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0" y="50292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31 % de ellas y 26 % de ellos quiere retomar sus estudios.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A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El abandono es un problema de dinero que estalla en el bachillerato</a:t>
            </a:r>
            <a:endParaRPr lang="en-US" sz="3000" dirty="0"/>
          </a:p>
        </p:txBody>
      </p:sp>
      <p:sp>
        <p:nvSpPr>
          <p:cNvPr id="3" name="rec_0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E2E52"/>
          </a:solidFill>
          <a:ln w="12700">
            <a:solidFill>
              <a:srgbClr val="1E2E5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A27E"/>
                </a:solidFill>
              </a:rPr>
              <a:t>Becas a la transición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2EC"/>
                </a:solidFill>
              </a:rPr>
              <a:t>Focalizar en secundaria → media superior de hogares de NSE bajo, condicionadas a permanencia.</a:t>
            </a:r>
            <a:endParaRPr lang="en-US" sz="1500" dirty="0"/>
          </a:p>
        </p:txBody>
      </p:sp>
      <p:sp>
        <p:nvSpPr>
          <p:cNvPr id="6" name="rec_1"/>
          <p:cNvSpPr/>
          <p:nvPr/>
        </p:nvSpPr>
        <p:spPr>
          <a:xfrm>
            <a:off x="4315968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E2E52"/>
          </a:solidFill>
          <a:ln w="12700">
            <a:solidFill>
              <a:srgbClr val="1E2E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90288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A27E"/>
                </a:solidFill>
              </a:rPr>
              <a:t>Estudio y trabajo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90288" y="2194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2EC"/>
                </a:solidFill>
              </a:rPr>
              <a:t>Formación dual con empresas y horarios compatibles: no obligar a elegir entre empleo y escuela.</a:t>
            </a:r>
            <a:endParaRPr lang="en-US" sz="1500" dirty="0"/>
          </a:p>
        </p:txBody>
      </p:sp>
      <p:sp>
        <p:nvSpPr>
          <p:cNvPr id="9" name="rec_2"/>
          <p:cNvSpPr/>
          <p:nvPr/>
        </p:nvSpPr>
        <p:spPr>
          <a:xfrm>
            <a:off x="8083296" y="150876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1E2E52"/>
          </a:solidFill>
          <a:ln w="12700">
            <a:solidFill>
              <a:srgbClr val="1E2E5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7616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A27E"/>
                </a:solidFill>
              </a:rPr>
              <a:t>Enfoque de género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21945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2EC"/>
                </a:solidFill>
              </a:rPr>
              <a:t>Estancias infantiles en planteles, prevención del embarazo adolescente y oferta abierta para reincorporarse.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A27E"/>
                </a:solidFill>
              </a:rPr>
              <a:t>Limitaciones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E"/>
                </a:solidFill>
              </a:rPr>
              <a:t>Encuesta telefónica: subrepresenta hogares sin teléfono, así que la brecha real sería mayor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E"/>
                </a:solidFill>
              </a:rPr>
              <a:t>Sin ingreso, escolaridad de padres ni urbano/rural: se usan proxies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E"/>
                </a:solidFill>
              </a:rPr>
              <a:t>Razones reportadas por un informante · ciclo afectado por la pandemia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9D1DE"/>
                </a:solidFill>
              </a:rPr>
              <a:t>Asociación, no causalidad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6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APE Abandono">
  <a:themeElements>
    <a:clrScheme name="ENAPE Abandono">
      <a:dk1>
        <a:srgbClr val="14213D"/>
      </a:dk1>
      <a:lt1>
        <a:srgbClr val="FFFFFF"/>
      </a:lt1>
      <a:dk2>
        <a:srgbClr val="3F4A5A"/>
      </a:dk2>
      <a:lt2>
        <a:srgbClr val="EEF1F4"/>
      </a:lt2>
      <a:accent1>
        <a:srgbClr val="B5431B"/>
      </a:accent1>
      <a:accent2>
        <a:srgbClr val="2A78D6"/>
      </a:accent2>
      <a:accent3>
        <a:srgbClr val="EB6834"/>
      </a:accent3>
      <a:accent4>
        <a:srgbClr val="104281"/>
      </a:accent4>
      <a:accent5>
        <a:srgbClr val="86B6EF"/>
      </a:accent5>
      <a:accent6>
        <a:srgbClr val="6A7280"/>
      </a:accent6>
      <a:hlink>
        <a:srgbClr val="2A78D6"/>
      </a:hlink>
      <a:folHlink>
        <a:srgbClr val="6A7280"/>
      </a:folHlink>
    </a:clrScheme>
    <a:fontScheme name="ENAPE Abandon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Abandono escolar en México · ENAPE 2021</dc:title>
  <dc:subject>PptxGenJS Presentation</dc:subject>
  <dc:creator>Manuel Aguirre</dc:creator>
  <cp:lastModifiedBy>Manuel Aguirre</cp:lastModifiedBy>
  <cp:revision>1</cp:revision>
  <dcterms:created xsi:type="dcterms:W3CDTF">2026-10-29T02:51:14Z</dcterms:created>
  <dcterms:modified xsi:type="dcterms:W3CDTF">2026-10-29T02:51:14Z</dcterms:modified>
</cp:coreProperties>
</file>